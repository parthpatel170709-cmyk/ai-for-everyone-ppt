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640080"/>
            <a:ext cx="1920240" cy="1920240"/>
          </a:xfrm>
          <a:prstGeom prst="ellipse">
            <a:avLst/>
          </a:prstGeom>
          <a:solidFill>
            <a:srgbClr val="28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1828800"/>
            <a:ext cx="1371600" cy="1371600"/>
          </a:xfrm>
          <a:prstGeom prst="ellipse">
            <a:avLst/>
          </a:prstGeom>
          <a:solidFill>
            <a:srgbClr val="41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2743200"/>
            <a:ext cx="1005840" cy="1005840"/>
          </a:xfrm>
          <a:prstGeom prst="ellipse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3931920"/>
            <a:ext cx="1554480" cy="1554480"/>
          </a:xfrm>
          <a:prstGeom prst="ellipse">
            <a:avLst/>
          </a:prstGeom>
          <a:solidFill>
            <a:srgbClr val="82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67665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1BEDC"/>
                </a:solidFill>
                <a:latin typeface="Aptos"/>
              </a:rPr>
              <a:t>ARTIFICIAL INTELLIGENCE •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498079" cy="1417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DIGITAL
PAYMENT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337560"/>
            <a:ext cx="68580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D2E6FA"/>
                </a:solidFill>
                <a:latin typeface="Aptos"/>
              </a:rPr>
              <a:t>Fast • Secure • Convenient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62179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How AI helps make cashless transactions smarter and safer.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325880"/>
            <a:ext cx="201168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15400" y="1691640"/>
            <a:ext cx="1645920" cy="2788920"/>
          </a:xfrm>
          <a:prstGeom prst="roundRect">
            <a:avLst/>
          </a:prstGeom>
          <a:solidFill>
            <a:srgbClr val="E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2011680"/>
            <a:ext cx="13716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2882DC"/>
                </a:solidFill>
                <a:latin typeface="Aptos"/>
              </a:rPr>
              <a:t>UPI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743200"/>
            <a:ext cx="109728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32AA69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848" y="3474720"/>
            <a:ext cx="132588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4284B"/>
                </a:solidFill>
                <a:latin typeface="Aptos"/>
              </a:rPr>
              <a:t>Payment
Successful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DDCF0"/>
                </a:solidFill>
                <a:latin typeface="Aptos"/>
              </a:rPr>
              <a:t>Presented by: ____________________     Class: 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73152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1BEDC"/>
                </a:solidFill>
                <a:latin typeface="Aptos"/>
              </a:rPr>
              <a:t>A step towards a cashless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4284B"/>
                </a:solidFill>
                <a:latin typeface="Aptos"/>
              </a:rPr>
              <a:t>1. What Is Digital Payment?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F6E82"/>
                </a:solidFill>
                <a:latin typeface="Aptos"/>
              </a:rPr>
              <a:t>Paying or transferring money electronically instead of using physical cash.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42900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82296" cy="1828800"/>
          </a:xfrm>
          <a:prstGeom prst="rect">
            <a:avLst/>
          </a:prstGeom>
          <a:solidFill>
            <a:srgbClr val="28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2882DC"/>
                </a:solidFill>
                <a:latin typeface="Aptos"/>
              </a:rPr>
              <a:t>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719072"/>
            <a:ext cx="2468879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Meaning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12848"/>
            <a:ext cx="2953512" cy="10424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Digital payment uses a phone, card, computer, or other electronic device to transfer money.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2900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82296" cy="182880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9928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99B91"/>
                </a:solidFill>
                <a:latin typeface="Aptos"/>
              </a:rPr>
              <a:t>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1719072"/>
            <a:ext cx="2468879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Where we use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212848"/>
            <a:ext cx="2953512" cy="10424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Shopping online, paying shopkeepers, recharging phones, paying bills, and sending money.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54480"/>
            <a:ext cx="342900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54480"/>
            <a:ext cx="82296" cy="1828800"/>
          </a:xfrm>
          <a:prstGeom prst="rect">
            <a:avLst/>
          </a:prstGeom>
          <a:solidFill>
            <a:srgbClr val="82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09928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825FC8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7" y="1719072"/>
            <a:ext cx="24688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212848"/>
            <a:ext cx="2953512" cy="10424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It can make transactions quicker, easier to track, and more convenient.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86200"/>
            <a:ext cx="106984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4284B"/>
                </a:solidFill>
                <a:latin typeface="Aptos"/>
              </a:rPr>
              <a:t>A SIMPLE DIGITAL PAYMENT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572000"/>
            <a:ext cx="594360" cy="594360"/>
          </a:xfrm>
          <a:prstGeom prst="ellipse">
            <a:avLst/>
          </a:prstGeom>
          <a:solidFill>
            <a:srgbClr val="28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90872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4645152"/>
            <a:ext cx="1737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84B"/>
                </a:solidFill>
                <a:latin typeface="Aptos"/>
              </a:rPr>
              <a:t>Choose amount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681728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5F6E82"/>
                </a:solidFill>
                <a:latin typeface="Aptos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3703320" y="4572000"/>
            <a:ext cx="594360" cy="594360"/>
          </a:xfrm>
          <a:prstGeom prst="ellipse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4690872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4645152"/>
            <a:ext cx="1737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84B"/>
                </a:solidFill>
                <a:latin typeface="Aptos"/>
              </a:rPr>
              <a:t>Scan / enter details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681728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5F6E82"/>
                </a:solidFill>
                <a:latin typeface="Aptos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4572000"/>
            <a:ext cx="594360" cy="594360"/>
          </a:xfrm>
          <a:prstGeom prst="ellipse">
            <a:avLst/>
          </a:prstGeom>
          <a:solidFill>
            <a:srgbClr val="82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690872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4645152"/>
            <a:ext cx="1737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84B"/>
                </a:solidFill>
                <a:latin typeface="Aptos"/>
              </a:rPr>
              <a:t>Verify securely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681728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5F6E82"/>
                </a:solidFill>
                <a:latin typeface="Aptos"/>
              </a:rPr>
              <a:t>→</a:t>
            </a:r>
          </a:p>
        </p:txBody>
      </p:sp>
      <p:sp>
        <p:nvSpPr>
          <p:cNvPr id="33" name="Oval 32"/>
          <p:cNvSpPr/>
          <p:nvPr/>
        </p:nvSpPr>
        <p:spPr>
          <a:xfrm>
            <a:off x="9372600" y="4572000"/>
            <a:ext cx="594360" cy="594360"/>
          </a:xfrm>
          <a:prstGeom prst="ellipse">
            <a:avLst/>
          </a:prstGeom>
          <a:solidFill>
            <a:srgbClr val="32A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4690872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85832" y="4645152"/>
            <a:ext cx="1737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84B"/>
                </a:solidFill>
                <a:latin typeface="Aptos"/>
              </a:rPr>
              <a:t>Payment complete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E82"/>
                </a:solidFill>
                <a:latin typeface="Aptos"/>
              </a:rPr>
              <a:t>AI SUBJECT PROJECT • DIGITAL PAYMENT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F6E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4284B"/>
                </a:solidFill>
                <a:latin typeface="Aptos"/>
              </a:rPr>
              <a:t>2. Types of Digital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F6E82"/>
                </a:solidFill>
                <a:latin typeface="Aptos"/>
              </a:rPr>
              <a:t>Different methods suit different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1691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82296" cy="1691640"/>
          </a:xfrm>
          <a:prstGeom prst="rect">
            <a:avLst/>
          </a:prstGeom>
          <a:solidFill>
            <a:srgbClr val="28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2882DC"/>
                </a:solidFill>
                <a:latin typeface="Aptos"/>
              </a:rPr>
              <a:t>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581912"/>
            <a:ext cx="2377439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UPI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075688"/>
            <a:ext cx="2862072" cy="9052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Instant bank-to-bank payments using a UPI app or 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691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82296" cy="169164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72768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99B91"/>
                </a:solidFill>
                <a:latin typeface="Aptos"/>
              </a:rPr>
              <a:t>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1581912"/>
            <a:ext cx="2377439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QR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075688"/>
            <a:ext cx="2862072" cy="9052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Scan a merchant's code and confirm the amount.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337560" cy="1691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82296" cy="1691640"/>
          </a:xfrm>
          <a:prstGeom prst="rect">
            <a:avLst/>
          </a:prstGeom>
          <a:solidFill>
            <a:srgbClr val="82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572768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825FC8"/>
                </a:solidFill>
                <a:latin typeface="Aptos"/>
              </a:rPr>
              <a:t>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7" y="1581912"/>
            <a:ext cx="237744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Debit / Credit 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2075688"/>
            <a:ext cx="2862072" cy="9052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Pay online or at a card machine.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0440"/>
            <a:ext cx="3337560" cy="1691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520440"/>
            <a:ext cx="82296" cy="1691640"/>
          </a:xfrm>
          <a:prstGeom prst="rect">
            <a:avLst/>
          </a:prstGeom>
          <a:solidFill>
            <a:srgbClr val="F06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675888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0695F"/>
                </a:solidFill>
                <a:latin typeface="Aptos"/>
              </a:rPr>
              <a:t>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685032"/>
            <a:ext cx="2377439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Mobile Wallet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4178808"/>
            <a:ext cx="2862072" cy="9052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Store a balance or payment credentials in an app.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520440"/>
            <a:ext cx="3337560" cy="1691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520440"/>
            <a:ext cx="82296" cy="1691640"/>
          </a:xfrm>
          <a:prstGeom prst="rect">
            <a:avLst/>
          </a:prstGeom>
          <a:solidFill>
            <a:srgbClr val="32A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675888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32AA69"/>
                </a:solidFill>
                <a:latin typeface="Aptos"/>
              </a:rPr>
              <a:t>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3685032"/>
            <a:ext cx="2377439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Internet Banking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4178808"/>
            <a:ext cx="2862072" cy="9052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Transfer money through a bank's website or app.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3520440"/>
            <a:ext cx="3337560" cy="1691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520440"/>
            <a:ext cx="82296" cy="1691640"/>
          </a:xfrm>
          <a:prstGeom prst="rect">
            <a:avLst/>
          </a:prstGeom>
          <a:solidFill>
            <a:srgbClr val="FFC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675888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C341"/>
                </a:solidFill>
                <a:latin typeface="Aptos"/>
              </a:rPr>
              <a:t>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9407" y="3685032"/>
            <a:ext cx="237744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NEFT / IMPS / RTGS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1" y="4178808"/>
            <a:ext cx="2862072" cy="9052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Bank transfer services used for different transaction needs.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E82"/>
                </a:solidFill>
                <a:latin typeface="Aptos"/>
              </a:rPr>
              <a:t>AI SUBJECT PROJECT • DIGITAL PAYMENT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F6E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2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4284B"/>
                </a:solidFill>
                <a:latin typeface="Aptos"/>
              </a:rPr>
              <a:t>3. Role of AI in Digital 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F6E82"/>
                </a:solidFill>
                <a:latin typeface="Aptos"/>
              </a:rPr>
              <a:t>AI analyses patterns and helps payment systems respond intelligently.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2900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82296" cy="1828800"/>
          </a:xfrm>
          <a:prstGeom prst="rect">
            <a:avLst/>
          </a:prstGeom>
          <a:solidFill>
            <a:srgbClr val="82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7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825FC8"/>
                </a:solidFill>
                <a:latin typeface="Aptos"/>
              </a:rPr>
              <a:t>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673351"/>
            <a:ext cx="2468879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Fraud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67128"/>
            <a:ext cx="2953512" cy="10424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Flags unusual transactions, suspicious logins, and unexpected spending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82296" cy="1828800"/>
          </a:xfrm>
          <a:prstGeom prst="rect">
            <a:avLst/>
          </a:prstGeom>
          <a:solidFill>
            <a:srgbClr val="28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64207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2882DC"/>
                </a:solidFill>
                <a:latin typeface="Aptos"/>
              </a:rPr>
              <a:t>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1673351"/>
            <a:ext cx="2468879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Risk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167128"/>
            <a:ext cx="2953512" cy="10424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Helps estimate transaction risk and decide when extra verification is needed.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08760"/>
            <a:ext cx="342900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82296" cy="182880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64207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99B91"/>
                </a:solidFill>
                <a:latin typeface="Aptos"/>
              </a:rPr>
              <a:t>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7" y="1673351"/>
            <a:ext cx="24688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Customer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167128"/>
            <a:ext cx="2953512" cy="10424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Chatbots answer common questions and guide users through payment issues.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94760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4284B"/>
                </a:solidFill>
                <a:latin typeface="Aptos"/>
              </a:rPr>
              <a:t>EXAMPLE: HOW AI MAY SPOT FRAUD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3484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8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5720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882DC"/>
                </a:solidFill>
                <a:latin typeface="Aptos"/>
              </a:rPr>
              <a:t>Usual 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92040"/>
            <a:ext cx="22402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83244"/>
                </a:solidFill>
                <a:latin typeface="Aptos"/>
              </a:rPr>
              <a:t>Small payments near home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443484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06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21608" y="45720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0695F"/>
                </a:solidFill>
                <a:latin typeface="Aptos"/>
              </a:rPr>
              <a:t>Unusual activity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4892040"/>
            <a:ext cx="22402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83244"/>
                </a:solidFill>
                <a:latin typeface="Aptos"/>
              </a:rPr>
              <a:t>Large payment from a new location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43484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825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45720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825FC8"/>
                </a:solidFill>
                <a:latin typeface="Aptos"/>
              </a:rPr>
              <a:t>AI checks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892040"/>
            <a:ext cx="22402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83244"/>
                </a:solidFill>
                <a:latin typeface="Aptos"/>
              </a:rPr>
              <a:t>System compares signals and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443484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2A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82328" y="45720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32AA69"/>
                </a:solidFill>
                <a:latin typeface="Aptos"/>
              </a:rPr>
              <a:t>Protect the 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892040"/>
            <a:ext cx="22402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83244"/>
                </a:solidFill>
                <a:latin typeface="Aptos"/>
              </a:rPr>
              <a:t>Ask for confirmation or flag the payment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E82"/>
                </a:solidFill>
                <a:latin typeface="Aptos"/>
              </a:rPr>
              <a:t>AI SUBJECT PROJECT • DIGITAL PAYMENT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F6E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2A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4284B"/>
                </a:solidFill>
                <a:latin typeface="Aptos"/>
              </a:rPr>
              <a:t>4. Advantages of Digital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F6E82"/>
                </a:solidFill>
                <a:latin typeface="Aptos"/>
              </a:rPr>
              <a:t>Convenience improves when users follow safe payment habits.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9184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82296" cy="1645920"/>
          </a:xfrm>
          <a:prstGeom prst="rect">
            <a:avLst/>
          </a:prstGeom>
          <a:solidFill>
            <a:srgbClr val="28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64207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2882DC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673351"/>
            <a:ext cx="23317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Fast &amp; convenient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67128"/>
            <a:ext cx="2816352" cy="8595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Payments can be completed in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29184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82296" cy="1645920"/>
          </a:xfrm>
          <a:prstGeom prst="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64207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99B91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1673351"/>
            <a:ext cx="23317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Easy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167128"/>
            <a:ext cx="2816352" cy="8595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Digital records help review spending and transactions.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08760"/>
            <a:ext cx="329184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08760"/>
            <a:ext cx="82296" cy="1645920"/>
          </a:xfrm>
          <a:prstGeom prst="rect">
            <a:avLst/>
          </a:prstGeom>
          <a:solidFill>
            <a:srgbClr val="82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64207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825FC8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673351"/>
            <a:ext cx="23317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Less cash to carry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167128"/>
            <a:ext cx="2816352" cy="8595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Useful for shopping, bills, and transfers.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66160"/>
            <a:ext cx="329184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566160"/>
            <a:ext cx="82296" cy="1645920"/>
          </a:xfrm>
          <a:prstGeom prst="rect">
            <a:avLst/>
          </a:prstGeom>
          <a:solidFill>
            <a:srgbClr val="32A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721608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32AA69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3730752"/>
            <a:ext cx="23317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Available widely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224528"/>
            <a:ext cx="2816352" cy="8595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Many services work 24/7, depending on the bank and network.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566160"/>
            <a:ext cx="329184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566160"/>
            <a:ext cx="82296" cy="1645920"/>
          </a:xfrm>
          <a:prstGeom prst="rect">
            <a:avLst/>
          </a:prstGeom>
          <a:solidFill>
            <a:srgbClr val="F06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721608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0695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3730752"/>
            <a:ext cx="23317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Supports businesses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4224528"/>
            <a:ext cx="2816352" cy="8595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Can make receiving payments simpler for merchants.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566160"/>
            <a:ext cx="329184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3566160"/>
            <a:ext cx="82296" cy="1645920"/>
          </a:xfrm>
          <a:prstGeom prst="rect">
            <a:avLst/>
          </a:prstGeom>
          <a:solidFill>
            <a:srgbClr val="FFC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721608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C341"/>
                </a:solidFill>
                <a:latin typeface="Apto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33688" y="3730752"/>
            <a:ext cx="23317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AI-assisted safety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224528"/>
            <a:ext cx="2816352" cy="8595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Risk checks may help identify suspicious activity.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E82"/>
                </a:solidFill>
                <a:latin typeface="Aptos"/>
              </a:rPr>
              <a:t>AI SUBJECT PROJECT • DIGITAL PAYMENT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F6E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6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4284B"/>
                </a:solidFill>
                <a:latin typeface="Aptos"/>
              </a:rPr>
              <a:t>5. Risks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F6E82"/>
                </a:solidFill>
                <a:latin typeface="Aptos"/>
              </a:rPr>
              <a:t>Digital payments are useful, but no method is completely risk-free.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82296" cy="1828800"/>
          </a:xfrm>
          <a:prstGeom prst="rect">
            <a:avLst/>
          </a:prstGeom>
          <a:solidFill>
            <a:srgbClr val="F06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64207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0695F"/>
                </a:solidFill>
                <a:latin typeface="Aptos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673351"/>
            <a:ext cx="425196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Common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67128"/>
            <a:ext cx="4736592" cy="10424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• Phishing links and fake customer-care numbers
• Sharing OTPs, PINs, or passwords
• Network problems or failed transactions
• Privacy concerns and device theft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1208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82296" cy="1828800"/>
          </a:xfrm>
          <a:prstGeom prst="rect">
            <a:avLst/>
          </a:prstGeom>
          <a:solidFill>
            <a:srgbClr val="FFC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64207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C341"/>
                </a:solidFill>
                <a:latin typeface="Aptos"/>
              </a:rPr>
              <a:t>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1673351"/>
            <a:ext cx="425196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84B"/>
                </a:solidFill>
                <a:latin typeface="Aptos"/>
              </a:rP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167128"/>
            <a:ext cx="4736592" cy="10424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83244"/>
                </a:solidFill>
                <a:latin typeface="Aptos"/>
              </a:rPr>
              <a:t>• Requires a suitable device and connectivity
• Some users need help learning the apps
• Mistaken transfers may be difficult to reverse
• AI can make errors or flag genuine payments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40480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4284B"/>
                </a:solidFill>
                <a:latin typeface="Aptos"/>
              </a:rPr>
              <a:t>REMEMBER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484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06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5720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0695F"/>
                </a:solidFill>
                <a:latin typeface="Aptos"/>
              </a:rPr>
              <a:t>Never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224028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83244"/>
                </a:solidFill>
                <a:latin typeface="Aptos"/>
              </a:rPr>
              <a:t>OTP, UPI PIN, or passwords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443484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8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1608" y="45720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882DC"/>
                </a:solidFill>
                <a:latin typeface="Aptos"/>
              </a:rPr>
              <a:t>Check carefully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4892040"/>
            <a:ext cx="224028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83244"/>
                </a:solidFill>
                <a:latin typeface="Aptos"/>
              </a:rPr>
              <a:t>Name and amount before paying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43484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19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45720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99B91"/>
                </a:solidFill>
                <a:latin typeface="Aptos"/>
              </a:rPr>
              <a:t>Use official apps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892040"/>
            <a:ext cx="224028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83244"/>
                </a:solidFill>
                <a:latin typeface="Aptos"/>
              </a:rPr>
              <a:t>Avoid unknown links and APK files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443484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2A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90888" y="45720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32AA69"/>
                </a:solidFill>
                <a:latin typeface="Aptos"/>
              </a:rPr>
              <a:t>Report quickly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892040"/>
            <a:ext cx="224028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83244"/>
                </a:solidFill>
                <a:latin typeface="Aptos"/>
              </a:rPr>
              <a:t>Contact your bank if you suspect fraud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E82"/>
                </a:solidFill>
                <a:latin typeface="Aptos"/>
              </a:rPr>
              <a:t>AI SUBJECT PROJECT • DIGITAL PAYMENT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F6E8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4284B"/>
                </a:solidFill>
                <a:latin typeface="Aptos"/>
              </a:rPr>
              <a:t>6. Real-Life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F6E82"/>
                </a:solidFill>
                <a:latin typeface="Aptos"/>
              </a:rPr>
              <a:t>Common digital payment options in India.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31546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56231" y="1965960"/>
            <a:ext cx="1005840" cy="1005840"/>
          </a:xfrm>
          <a:prstGeom prst="ellipse">
            <a:avLst/>
          </a:prstGeom>
          <a:solidFill>
            <a:srgbClr val="28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56231" y="2267712"/>
            <a:ext cx="10058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697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4284B"/>
                </a:solidFill>
                <a:latin typeface="Aptos"/>
              </a:rPr>
              <a:t>UPI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20439"/>
            <a:ext cx="26974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83244"/>
                </a:solidFill>
                <a:latin typeface="Aptos"/>
              </a:rPr>
              <a:t>Google Pay, PhonePe, Paytm and other supported apps.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45920"/>
            <a:ext cx="31546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05272" y="1965960"/>
            <a:ext cx="1005840" cy="1005840"/>
          </a:xfrm>
          <a:prstGeom prst="ellipse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05272" y="2267712"/>
            <a:ext cx="10058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154680"/>
            <a:ext cx="2697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4284B"/>
                </a:solidFill>
                <a:latin typeface="Aptos"/>
              </a:rPr>
              <a:t>Banking apps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520439"/>
            <a:ext cx="26974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83244"/>
                </a:solidFill>
                <a:latin typeface="Aptos"/>
              </a:rPr>
              <a:t>Banks offer transfers, bill payments, and account services.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645920"/>
            <a:ext cx="31546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54312" y="1965960"/>
            <a:ext cx="1005840" cy="1005840"/>
          </a:xfrm>
          <a:prstGeom prst="ellipse">
            <a:avLst/>
          </a:prstGeom>
          <a:solidFill>
            <a:srgbClr val="82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54312" y="2267712"/>
            <a:ext cx="10058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154680"/>
            <a:ext cx="2697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4284B"/>
                </a:solidFill>
                <a:latin typeface="Aptos"/>
              </a:rPr>
              <a:t>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520439"/>
            <a:ext cx="26974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83244"/>
                </a:solidFill>
                <a:latin typeface="Aptos"/>
              </a:rPr>
              <a:t>Debit and credit cards are used in shops and online.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709160"/>
            <a:ext cx="1014984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4284B"/>
                </a:solidFill>
                <a:latin typeface="Aptos"/>
              </a:rPr>
              <a:t>AI works behind the scenes in some payment systems to help identify risk, personalise support, and improve service.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E82"/>
                </a:solidFill>
                <a:latin typeface="Aptos"/>
              </a:rPr>
              <a:t>AI SUBJECT PROJECT • DIGITAL PAYMENT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F6E8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1508760"/>
            <a:ext cx="950976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41BEDC"/>
                </a:solidFill>
                <a:latin typeface="Aptos"/>
              </a:rPr>
              <a:t>Digital payment is an important part of a modern cashless economy.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606040"/>
            <a:ext cx="9235440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Aptos"/>
              </a:rPr>
              <a:t>AI can make digital transactions smarter by helping detect suspicious activity, assess risk, and support customers.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3977639"/>
            <a:ext cx="7955279" cy="1005840"/>
          </a:xfrm>
          <a:prstGeom prst="roundRect">
            <a:avLst/>
          </a:prstGeom>
          <a:solidFill>
            <a:srgbClr val="1F3E68"/>
          </a:solidFill>
          <a:ln>
            <a:solidFill>
              <a:srgbClr val="41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31720" y="4224528"/>
            <a:ext cx="7498079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GO DIGITAL • STAY ALERT • PAY SAFELY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623560"/>
            <a:ext cx="81381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C341"/>
                </a:solidFill>
                <a:latin typeface="Aptos"/>
              </a:rP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7315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B9CDE6"/>
                </a:solidFill>
                <a:latin typeface="Aptos"/>
              </a:rPr>
              <a:t>AI SUBJECT PROJECT • DIGITAL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B9CDE6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284B"/>
                </a:solidFill>
                <a:latin typeface="Aptos"/>
              </a:rPr>
              <a:t>PROJECT CHART / QUICK REVISION</a:t>
            </a:r>
          </a:p>
        </p:txBody>
      </p:sp>
      <p:pic>
        <p:nvPicPr>
          <p:cNvPr id="3" name="Picture 2" descr="a_clean_colorful_infographic_poster_on_a_white_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548640"/>
            <a:ext cx="6453727" cy="5897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492240"/>
            <a:ext cx="7315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E82"/>
                </a:solidFill>
                <a:latin typeface="Aptos"/>
              </a:rPr>
              <a:t>AI SUBJECT PROJECT • DIGITAL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F6E8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